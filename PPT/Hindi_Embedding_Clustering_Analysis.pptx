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175504" y="1280160"/>
            <a:ext cx="182880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99713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600"/>
              </a:spcAft>
              <a:defRPr sz="1050" b="1">
                <a:solidFill>
                  <a:srgbClr val="D4AF37"/>
                </a:solidFill>
                <a:latin typeface="Segoe UI"/>
              </a:defRPr>
            </a:pPr>
            <a:r>
              <a:t>COGNITIVE SCIENCE &amp; COMPUTATIONAL LINGUISTICS</a:t>
            </a:r>
          </a:p>
          <a:p>
            <a:pPr algn="ctr">
              <a:spcAft>
                <a:spcPts val="1200"/>
              </a:spcAft>
              <a:defRPr sz="3600" b="1">
                <a:solidFill>
                  <a:srgbClr val="222222"/>
                </a:solidFill>
                <a:latin typeface="Georgia"/>
              </a:defRPr>
            </a:pPr>
            <a:r>
              <a:t>Hindi Semantic Embedding Spaces</a:t>
            </a:r>
          </a:p>
          <a:p>
            <a:pPr algn="ctr">
              <a:defRPr sz="1400">
                <a:solidFill>
                  <a:srgbClr val="696969"/>
                </a:solidFill>
                <a:latin typeface="Segoe UI"/>
              </a:defRPr>
            </a:pPr>
            <a:r>
              <a:t>A Comparative Clustering &amp; Geometric Evaluation: IndicFastText, RoBERTa-Hindi, and Word2Vec on Shabd</a:t>
            </a:r>
          </a:p>
        </p:txBody>
      </p:sp>
      <p:sp>
        <p:nvSpPr>
          <p:cNvPr id="4" name="Rectangle 3"/>
          <p:cNvSpPr/>
          <p:nvPr/>
        </p:nvSpPr>
        <p:spPr>
          <a:xfrm>
            <a:off x="1066190" y="4846320"/>
            <a:ext cx="3108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40510" y="4846320"/>
            <a:ext cx="256032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6190" y="502920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4AF37"/>
                </a:solidFill>
                <a:latin typeface="Georgia"/>
              </a:defRPr>
            </a:pPr>
            <a:r>
              <a:t>3 EMBEDDINGS</a:t>
            </a:r>
          </a:p>
          <a:p>
            <a:pPr algn="ctr">
              <a:defRPr sz="1000">
                <a:solidFill>
                  <a:srgbClr val="696969"/>
                </a:solidFill>
                <a:latin typeface="Segoe UI"/>
              </a:defRPr>
            </a:pPr>
            <a:r>
              <a:t>IndicFastText · RoBERTa · Word2Vec</a:t>
            </a:r>
          </a:p>
        </p:txBody>
      </p:sp>
      <p:sp>
        <p:nvSpPr>
          <p:cNvPr id="7" name="Rectangle 6"/>
          <p:cNvSpPr/>
          <p:nvPr/>
        </p:nvSpPr>
        <p:spPr>
          <a:xfrm>
            <a:off x="4540910" y="4846320"/>
            <a:ext cx="3108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815230" y="4846320"/>
            <a:ext cx="256032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0910" y="502920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4AF37"/>
                </a:solidFill>
                <a:latin typeface="Georgia"/>
              </a:defRPr>
            </a:pPr>
            <a:r>
              <a:t>SHABD DATASET</a:t>
            </a:r>
          </a:p>
          <a:p>
            <a:pPr algn="ctr">
              <a:defRPr sz="1000">
                <a:solidFill>
                  <a:srgbClr val="696969"/>
                </a:solidFill>
                <a:latin typeface="Segoe UI"/>
              </a:defRPr>
            </a:pPr>
            <a:r>
              <a:t>10,000 to 20,000 Lexical Entries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15630" y="4846320"/>
            <a:ext cx="3108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89950" y="4846320"/>
            <a:ext cx="256032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15630" y="502920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4AF37"/>
                </a:solidFill>
                <a:latin typeface="Georgia"/>
              </a:defRPr>
            </a:pPr>
            <a:r>
              <a:t>k = 50 → 300</a:t>
            </a:r>
          </a:p>
          <a:p>
            <a:pPr algn="ctr">
              <a:defRPr sz="1000">
                <a:solidFill>
                  <a:srgbClr val="696969"/>
                </a:solidFill>
                <a:latin typeface="Segoe UI"/>
              </a:defRPr>
            </a:pPr>
            <a:r>
              <a:t>Multi-Granularity Geometric Benchmarks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D4AF37"/>
                </a:solidFill>
                <a:latin typeface="Segoe UI"/>
              </a:defRPr>
            </a:pPr>
            <a:r>
              <a:t>INDICFT_10K PIPELINE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222222"/>
                </a:solidFill>
                <a:latin typeface="Georgia"/>
              </a:defRPr>
            </a:pPr>
            <a:r>
              <a:t>Lexical Ingestion &amp; FastText Extraction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07008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696969"/>
                </a:solidFill>
                <a:latin typeface="Segoe UI"/>
              </a:defRPr>
            </a:pPr>
            <a:r>
              <a:t>Processing top 10,000 Hindi entries from Shabd and extracting 300D static vectors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10545775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783080"/>
            <a:ext cx="51206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7280" y="1783080"/>
            <a:ext cx="457200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6596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22222"/>
                </a:solidFill>
                <a:latin typeface="Georgia"/>
              </a:defRPr>
            </a:pPr>
            <a:r>
              <a:t>1. Dataset Ingestion &amp; Selection</a:t>
            </a:r>
          </a:p>
          <a:p>
            <a:pPr>
              <a:spcBef>
                <a:spcPts val="1200"/>
              </a:spcBef>
              <a:defRPr sz="1100">
                <a:latin typeface="Segoe UI"/>
              </a:defRPr>
            </a:pPr>
            <a:r>
              <a:rPr b="1">
                <a:solidFill>
                  <a:srgbClr val="D4AF37"/>
                </a:solidFill>
              </a:rPr>
              <a:t>Source Corpus: </a:t>
            </a:r>
            <a:r>
              <a:rPr>
                <a:solidFill>
                  <a:srgbClr val="222222"/>
                </a:solidFill>
              </a:rPr>
              <a:t>Loaded the Shabd Psycholinguistic Database containing 33,676 entries.</a:t>
            </a:r>
          </a:p>
          <a:p>
            <a:pPr>
              <a:spcBef>
                <a:spcPts val="1200"/>
              </a:spcBef>
              <a:defRPr sz="1100">
                <a:latin typeface="Segoe UI"/>
              </a:defRPr>
            </a:pPr>
            <a:r>
              <a:rPr b="1">
                <a:solidFill>
                  <a:srgbClr val="D4AF37"/>
                </a:solidFill>
              </a:rPr>
              <a:t>Frequency Ranking: </a:t>
            </a:r>
            <a:r>
              <a:rPr>
                <a:solidFill>
                  <a:srgbClr val="222222"/>
                </a:solidFill>
              </a:rPr>
              <a:t>Sorted words by frequency to isolate the top 10,000 core lexical items.</a:t>
            </a:r>
          </a:p>
          <a:p>
            <a:pPr>
              <a:spcBef>
                <a:spcPts val="1200"/>
              </a:spcBef>
              <a:defRPr sz="1100">
                <a:latin typeface="Segoe UI"/>
              </a:defRPr>
            </a:pPr>
            <a:r>
              <a:rPr b="1">
                <a:solidFill>
                  <a:srgbClr val="D4AF37"/>
                </a:solidFill>
              </a:rPr>
              <a:t>Lexical Sanitization: </a:t>
            </a:r>
            <a:r>
              <a:rPr>
                <a:solidFill>
                  <a:srgbClr val="222222"/>
                </a:solidFill>
              </a:rPr>
              <a:t>Cleaned extraneous whitespace and removed missing/corrupt tokens.</a:t>
            </a:r>
          </a:p>
          <a:p>
            <a:pPr>
              <a:spcBef>
                <a:spcPts val="1200"/>
              </a:spcBef>
              <a:defRPr sz="1100">
                <a:latin typeface="Segoe UI"/>
              </a:defRPr>
            </a:pPr>
            <a:r>
              <a:rPr b="1">
                <a:solidFill>
                  <a:srgbClr val="D4AF37"/>
                </a:solidFill>
              </a:rPr>
              <a:t>Cognitive Focus: </a:t>
            </a:r>
            <a:r>
              <a:rPr>
                <a:solidFill>
                  <a:srgbClr val="222222"/>
                </a:solidFill>
              </a:rPr>
              <a:t>Targets high-frequency vocabulary reflecting human lexical accessibility.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48095" y="1783080"/>
            <a:ext cx="51206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22415" y="1783080"/>
            <a:ext cx="457200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22415" y="196596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22222"/>
                </a:solidFill>
                <a:latin typeface="Georgia"/>
              </a:defRPr>
            </a:pPr>
            <a:r>
              <a:t>2. Vector Extraction &amp; Scaling</a:t>
            </a:r>
          </a:p>
          <a:p>
            <a:pPr>
              <a:spcBef>
                <a:spcPts val="1100"/>
              </a:spcBef>
              <a:defRPr sz="1100">
                <a:latin typeface="Segoe UI"/>
              </a:defRPr>
            </a:pPr>
            <a:r>
              <a:rPr b="1">
                <a:solidFill>
                  <a:srgbClr val="D4AF37"/>
                </a:solidFill>
              </a:rPr>
              <a:t>Model Architecture: </a:t>
            </a:r>
            <a:r>
              <a:rPr>
                <a:solidFill>
                  <a:srgbClr val="222222"/>
                </a:solidFill>
              </a:rPr>
              <a:t>Employed 300D FastText vectors (indicnlp.ft.hi.300.bin) from AI4Bharat.</a:t>
            </a:r>
          </a:p>
          <a:p>
            <a:pPr>
              <a:spcBef>
                <a:spcPts val="1100"/>
              </a:spcBef>
              <a:defRPr sz="1100">
                <a:latin typeface="Segoe UI"/>
              </a:defRPr>
            </a:pPr>
            <a:r>
              <a:rPr b="1">
                <a:solidFill>
                  <a:srgbClr val="D4AF37"/>
                </a:solidFill>
              </a:rPr>
              <a:t>Hugging Face Fallback: </a:t>
            </a:r>
            <a:r>
              <a:rPr>
                <a:solidFill>
                  <a:srgbClr val="222222"/>
                </a:solidFill>
              </a:rPr>
              <a:t>Integrated auto-download fallback to facebook/fasttext-hi-vectors.</a:t>
            </a:r>
          </a:p>
          <a:p>
            <a:pPr>
              <a:spcBef>
                <a:spcPts val="1100"/>
              </a:spcBef>
              <a:defRPr sz="1100">
                <a:latin typeface="Segoe UI"/>
              </a:defRPr>
            </a:pPr>
            <a:r>
              <a:rPr b="1">
                <a:solidFill>
                  <a:srgbClr val="D4AF37"/>
                </a:solidFill>
              </a:rPr>
              <a:t>Parallel Lookup: </a:t>
            </a:r>
            <a:r>
              <a:rPr>
                <a:solidFill>
                  <a:srgbClr val="222222"/>
                </a:solidFill>
              </a:rPr>
              <a:t>Extracted vectors across CPU threads using ThreadPoolExecutor.</a:t>
            </a:r>
          </a:p>
          <a:p>
            <a:pPr>
              <a:spcBef>
                <a:spcPts val="1100"/>
              </a:spcBef>
              <a:defRPr sz="1100">
                <a:latin typeface="Segoe UI"/>
              </a:defRPr>
            </a:pPr>
            <a:r>
              <a:rPr b="1">
                <a:solidFill>
                  <a:srgbClr val="D4AF37"/>
                </a:solidFill>
              </a:rPr>
              <a:t>Subword Construction: </a:t>
            </a:r>
            <a:r>
              <a:rPr>
                <a:solidFill>
                  <a:srgbClr val="222222"/>
                </a:solidFill>
              </a:rPr>
              <a:t>FastText builds token vectors by summing character n-gram vectors.</a:t>
            </a:r>
          </a:p>
          <a:p>
            <a:pPr>
              <a:spcBef>
                <a:spcPts val="1100"/>
              </a:spcBef>
              <a:defRPr sz="1100">
                <a:latin typeface="Segoe UI"/>
              </a:defRPr>
            </a:pPr>
            <a:r>
              <a:rPr b="1">
                <a:solidFill>
                  <a:srgbClr val="D4AF37"/>
                </a:solidFill>
              </a:rPr>
              <a:t>L2 Normalization: </a:t>
            </a:r>
            <a:r>
              <a:rPr>
                <a:solidFill>
                  <a:srgbClr val="222222"/>
                </a:solidFill>
              </a:rPr>
              <a:t>Unit-norm projected (||x||_2 = 1) onto a 300D hypersphere using CuPy / sklearn.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D4AF37"/>
                </a:solidFill>
                <a:latin typeface="Segoe UI"/>
              </a:defRPr>
            </a:pPr>
            <a:r>
              <a:t>INDICFT_10K PIPELINE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222222"/>
                </a:solidFill>
                <a:latin typeface="Georgia"/>
              </a:defRPr>
            </a:pPr>
            <a:r>
              <a:t>Clustering Paradigms &amp; Evaluation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07008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696969"/>
                </a:solidFill>
                <a:latin typeface="Segoe UI"/>
              </a:defRPr>
            </a:pPr>
            <a:r>
              <a:t>Running 5 distinct geometric clustering algorithms across k = 50 to 300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10545775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783080"/>
            <a:ext cx="51206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7280" y="1783080"/>
            <a:ext cx="457200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6596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22222"/>
                </a:solidFill>
                <a:latin typeface="Georgia"/>
              </a:defRPr>
            </a:pPr>
            <a:r>
              <a:t>1. Five Clustering Paradigms</a:t>
            </a:r>
          </a:p>
          <a:p>
            <a:pPr>
              <a:spcBef>
                <a:spcPts val="1000"/>
              </a:spcBef>
              <a:defRPr sz="1100">
                <a:latin typeface="Segoe UI"/>
              </a:defRPr>
            </a:pPr>
            <a:r>
              <a:rPr b="1">
                <a:solidFill>
                  <a:srgbClr val="D4AF37"/>
                </a:solidFill>
              </a:rPr>
              <a:t>Voronoi Partition: </a:t>
            </a:r>
            <a:r>
              <a:rPr>
                <a:solidFill>
                  <a:srgbClr val="222222"/>
                </a:solidFill>
              </a:rPr>
              <a:t>Standard K-Means with 10 restarts, partitioning the 300D space.</a:t>
            </a:r>
          </a:p>
          <a:p>
            <a:pPr>
              <a:spcBef>
                <a:spcPts val="1000"/>
              </a:spcBef>
              <a:defRPr sz="1100">
                <a:latin typeface="Segoe UI"/>
              </a:defRPr>
            </a:pPr>
            <a:r>
              <a:rPr b="1">
                <a:solidFill>
                  <a:srgbClr val="D4AF37"/>
                </a:solidFill>
              </a:rPr>
              <a:t>MiniBatchKMeans: </a:t>
            </a:r>
            <a:r>
              <a:rPr>
                <a:solidFill>
                  <a:srgbClr val="222222"/>
                </a:solidFill>
              </a:rPr>
              <a:t>Stochastic batch updates enabling fast large-scale clustering.</a:t>
            </a:r>
          </a:p>
          <a:p>
            <a:pPr>
              <a:spcBef>
                <a:spcPts val="1000"/>
              </a:spcBef>
              <a:defRPr sz="1100">
                <a:latin typeface="Segoe UI"/>
              </a:defRPr>
            </a:pPr>
            <a:r>
              <a:rPr b="1">
                <a:solidFill>
                  <a:srgbClr val="D4AF37"/>
                </a:solidFill>
              </a:rPr>
              <a:t>Gaussian Mixture (GMM): </a:t>
            </a:r>
            <a:r>
              <a:rPr>
                <a:solidFill>
                  <a:srgbClr val="222222"/>
                </a:solidFill>
              </a:rPr>
              <a:t>Probabilistic soft clustering with diagonal covariance matrices.</a:t>
            </a:r>
          </a:p>
          <a:p>
            <a:pPr>
              <a:spcBef>
                <a:spcPts val="1000"/>
              </a:spcBef>
              <a:defRPr sz="1100">
                <a:latin typeface="Segoe UI"/>
              </a:defRPr>
            </a:pPr>
            <a:r>
              <a:rPr b="1">
                <a:solidFill>
                  <a:srgbClr val="D4AF37"/>
                </a:solidFill>
              </a:rPr>
              <a:t>Agglomerative Cosine: </a:t>
            </a:r>
            <a:r>
              <a:rPr>
                <a:solidFill>
                  <a:srgbClr val="222222"/>
                </a:solidFill>
              </a:rPr>
              <a:t>Hierarchical bottom-up tree based on average cosine distance.</a:t>
            </a:r>
          </a:p>
          <a:p>
            <a:pPr>
              <a:spcBef>
                <a:spcPts val="1000"/>
              </a:spcBef>
              <a:defRPr sz="1100">
                <a:latin typeface="Segoe UI"/>
              </a:defRPr>
            </a:pPr>
            <a:r>
              <a:rPr b="1">
                <a:solidFill>
                  <a:srgbClr val="D4AF37"/>
                </a:solidFill>
              </a:rPr>
              <a:t>Spectral Clustering: </a:t>
            </a:r>
            <a:r>
              <a:rPr>
                <a:solidFill>
                  <a:srgbClr val="222222"/>
                </a:solidFill>
              </a:rPr>
              <a:t>Graph-based clustering over a 10-nearest-neighbor affinity matrix.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48095" y="1783080"/>
            <a:ext cx="51206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22415" y="1783080"/>
            <a:ext cx="457200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22415" y="196596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22222"/>
                </a:solidFill>
                <a:latin typeface="Georgia"/>
              </a:defRPr>
            </a:pPr>
            <a:r>
              <a:t>2. Multi-Metric Benchmark Suite</a:t>
            </a:r>
          </a:p>
          <a:p>
            <a:pPr>
              <a:spcBef>
                <a:spcPts val="1000"/>
              </a:spcBef>
              <a:defRPr sz="1100">
                <a:latin typeface="Segoe UI"/>
              </a:defRPr>
            </a:pPr>
            <a:r>
              <a:rPr b="1">
                <a:solidFill>
                  <a:srgbClr val="D4AF37"/>
                </a:solidFill>
              </a:rPr>
              <a:t>Systematic Sweep: </a:t>
            </a:r>
            <a:r>
              <a:rPr>
                <a:solidFill>
                  <a:srgbClr val="222222"/>
                </a:solidFill>
              </a:rPr>
              <a:t>Evaluated across k in [50, 100, 150, 200, 250, 300] (30 conditions).</a:t>
            </a:r>
          </a:p>
          <a:p>
            <a:pPr>
              <a:spcBef>
                <a:spcPts val="1000"/>
              </a:spcBef>
              <a:defRPr sz="1100">
                <a:latin typeface="Segoe UI"/>
              </a:defRPr>
            </a:pPr>
            <a:r>
              <a:rPr b="1">
                <a:solidFill>
                  <a:srgbClr val="D4AF37"/>
                </a:solidFill>
              </a:rPr>
              <a:t>WCSS / Inertia: </a:t>
            </a:r>
            <a:r>
              <a:rPr>
                <a:solidFill>
                  <a:srgbClr val="222222"/>
                </a:solidFill>
              </a:rPr>
              <a:t>Measures intra-cluster tightness (lower is better).</a:t>
            </a:r>
          </a:p>
          <a:p>
            <a:pPr>
              <a:spcBef>
                <a:spcPts val="1000"/>
              </a:spcBef>
              <a:defRPr sz="1100">
                <a:latin typeface="Segoe UI"/>
              </a:defRPr>
            </a:pPr>
            <a:r>
              <a:rPr b="1">
                <a:solidFill>
                  <a:srgbClr val="D4AF37"/>
                </a:solidFill>
              </a:rPr>
              <a:t>Silhouette Score: </a:t>
            </a:r>
            <a:r>
              <a:rPr>
                <a:solidFill>
                  <a:srgbClr val="222222"/>
                </a:solidFill>
              </a:rPr>
              <a:t>Measures inter-cluster separation vs. cohesion (higher is better).</a:t>
            </a:r>
          </a:p>
          <a:p>
            <a:pPr>
              <a:spcBef>
                <a:spcPts val="1000"/>
              </a:spcBef>
              <a:defRPr sz="1100">
                <a:latin typeface="Segoe UI"/>
              </a:defRPr>
            </a:pPr>
            <a:r>
              <a:rPr b="1">
                <a:solidFill>
                  <a:srgbClr val="D4AF37"/>
                </a:solidFill>
              </a:rPr>
              <a:t>Davies-Bouldin Index: </a:t>
            </a:r>
            <a:r>
              <a:rPr>
                <a:solidFill>
                  <a:srgbClr val="222222"/>
                </a:solidFill>
              </a:rPr>
              <a:t>Ratio of cluster scatter to cluster distance (lower is better).</a:t>
            </a:r>
          </a:p>
          <a:p>
            <a:pPr>
              <a:spcBef>
                <a:spcPts val="1000"/>
              </a:spcBef>
              <a:defRPr sz="1100">
                <a:latin typeface="Segoe UI"/>
              </a:defRPr>
            </a:pPr>
            <a:r>
              <a:rPr b="1">
                <a:solidFill>
                  <a:srgbClr val="D4AF37"/>
                </a:solidFill>
              </a:rPr>
              <a:t>Calinski-Harabasz: </a:t>
            </a:r>
            <a:r>
              <a:rPr>
                <a:solidFill>
                  <a:srgbClr val="222222"/>
                </a:solidFill>
              </a:rPr>
              <a:t>Ratio of between-cluster to within-cluster variance (higher is better).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lustering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9134" y="228600"/>
            <a:ext cx="7913426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D4AF37"/>
                </a:solidFill>
                <a:latin typeface="Segoe UI"/>
              </a:defRPr>
            </a:pPr>
            <a:r>
              <a:t>INDICFT_10K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222222"/>
                </a:solidFill>
                <a:latin typeface="Georgia"/>
              </a:defRPr>
            </a:pPr>
            <a:r>
              <a:t>Methodological &amp; Geometric Mechanisms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07008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696969"/>
                </a:solidFill>
                <a:latin typeface="Segoe UI"/>
              </a:defRPr>
            </a:pPr>
            <a:r>
              <a:t>Explaining empirical behaviors through morphological composition and hypersphere geometry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10545775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783080"/>
            <a:ext cx="3328416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51560" y="1783080"/>
            <a:ext cx="2871216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965960"/>
            <a:ext cx="287121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22222"/>
                </a:solidFill>
                <a:latin typeface="Georgia"/>
              </a:defRPr>
            </a:pPr>
            <a:r>
              <a:t>1. Morphological Bleed</a:t>
            </a:r>
          </a:p>
          <a:p>
            <a:pPr>
              <a:spcBef>
                <a:spcPts val="1200"/>
              </a:spcBef>
              <a:defRPr sz="1050">
                <a:latin typeface="Segoe UI"/>
              </a:defRPr>
            </a:pPr>
            <a:r>
              <a:rPr b="1">
                <a:solidFill>
                  <a:srgbClr val="D4AF37"/>
                </a:solidFill>
              </a:rPr>
              <a:t>n-Gram Blending: </a:t>
            </a:r>
            <a:r>
              <a:rPr>
                <a:solidFill>
                  <a:srgbClr val="222222"/>
                </a:solidFill>
              </a:rPr>
              <a:t>FastText sums subwords. Words sharing Hindi affixes (e.g. -ता, -कर) share subword vectors.</a:t>
            </a:r>
          </a:p>
          <a:p>
            <a:pPr>
              <a:spcBef>
                <a:spcPts val="1200"/>
              </a:spcBef>
              <a:defRPr sz="1050">
                <a:latin typeface="Segoe UI"/>
              </a:defRPr>
            </a:pPr>
            <a:r>
              <a:rPr b="1">
                <a:solidFill>
                  <a:srgbClr val="D4AF37"/>
                </a:solidFill>
              </a:rPr>
              <a:t>Orthographic Pull: </a:t>
            </a:r>
            <a:r>
              <a:rPr>
                <a:solidFill>
                  <a:srgbClr val="222222"/>
                </a:solidFill>
              </a:rPr>
              <a:t>Inflected forms group together regardless of core semantic divergence.</a:t>
            </a:r>
          </a:p>
          <a:p>
            <a:pPr>
              <a:spcBef>
                <a:spcPts val="1200"/>
              </a:spcBef>
              <a:defRPr sz="1050">
                <a:latin typeface="Segoe UI"/>
              </a:defRPr>
            </a:pPr>
            <a:r>
              <a:rPr b="1">
                <a:solidFill>
                  <a:srgbClr val="D4AF37"/>
                </a:solidFill>
              </a:rPr>
              <a:t>Low Silhouette: </a:t>
            </a:r>
            <a:r>
              <a:rPr>
                <a:solidFill>
                  <a:srgbClr val="222222"/>
                </a:solidFill>
              </a:rPr>
              <a:t>Explains the low silhouette peak (0.024); points form a dense continuous manifold.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25696" y="1783080"/>
            <a:ext cx="3328416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54296" y="1783080"/>
            <a:ext cx="2871216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54296" y="1965960"/>
            <a:ext cx="287121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22222"/>
                </a:solidFill>
                <a:latin typeface="Georgia"/>
              </a:defRPr>
            </a:pPr>
            <a:r>
              <a:t>2. Hypersphere Geometry</a:t>
            </a:r>
          </a:p>
          <a:p>
            <a:pPr>
              <a:spcBef>
                <a:spcPts val="1200"/>
              </a:spcBef>
              <a:defRPr sz="1050">
                <a:latin typeface="Segoe UI"/>
              </a:defRPr>
            </a:pPr>
            <a:r>
              <a:rPr b="1">
                <a:solidFill>
                  <a:srgbClr val="D4AF37"/>
                </a:solidFill>
              </a:rPr>
              <a:t>Spherical Equivalence: </a:t>
            </a:r>
            <a:r>
              <a:rPr>
                <a:solidFill>
                  <a:srgbClr val="222222"/>
                </a:solidFill>
              </a:rPr>
              <a:t>On unit-normalized vectors, Euclidean distance strictly mirrors cosine distance.</a:t>
            </a:r>
          </a:p>
          <a:p>
            <a:pPr>
              <a:spcBef>
                <a:spcPts val="1200"/>
              </a:spcBef>
              <a:defRPr sz="1050">
                <a:latin typeface="Segoe UI"/>
              </a:defRPr>
            </a:pPr>
            <a:r>
              <a:rPr b="1">
                <a:solidFill>
                  <a:srgbClr val="D4AF37"/>
                </a:solidFill>
              </a:rPr>
              <a:t>Voronoi Advantage: </a:t>
            </a:r>
            <a:r>
              <a:rPr>
                <a:solidFill>
                  <a:srgbClr val="222222"/>
                </a:solidFill>
              </a:rPr>
              <a:t>K-Means minimizes Euclidean variance, naturally optimizing cosine alignment on unit spheres.</a:t>
            </a:r>
          </a:p>
          <a:p>
            <a:pPr>
              <a:spcBef>
                <a:spcPts val="1200"/>
              </a:spcBef>
              <a:defRPr sz="1050">
                <a:latin typeface="Segoe UI"/>
              </a:defRPr>
            </a:pPr>
            <a:r>
              <a:rPr b="1">
                <a:solidFill>
                  <a:srgbClr val="D4AF37"/>
                </a:solidFill>
              </a:rPr>
              <a:t>CH Decay Mechanics: </a:t>
            </a:r>
            <a:r>
              <a:rPr>
                <a:solidFill>
                  <a:srgbClr val="222222"/>
                </a:solidFill>
              </a:rPr>
              <a:t>The (k-1) normalization factor in Calinski-Harabasz outpaces between-cluster variance growth.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28431" y="1783080"/>
            <a:ext cx="3328416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57031" y="1783080"/>
            <a:ext cx="2871216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57031" y="1965960"/>
            <a:ext cx="287121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22222"/>
                </a:solidFill>
                <a:latin typeface="Georgia"/>
              </a:defRPr>
            </a:pPr>
            <a:r>
              <a:t>3. Algorithmic Dynamics</a:t>
            </a:r>
          </a:p>
          <a:p>
            <a:pPr>
              <a:spcBef>
                <a:spcPts val="1200"/>
              </a:spcBef>
              <a:defRPr sz="1050">
                <a:latin typeface="Segoe UI"/>
              </a:defRPr>
            </a:pPr>
            <a:r>
              <a:rPr b="1">
                <a:solidFill>
                  <a:srgbClr val="D4AF37"/>
                </a:solidFill>
              </a:rPr>
              <a:t>Agglomerative Cosine: </a:t>
            </a:r>
            <a:r>
              <a:rPr>
                <a:solidFill>
                  <a:srgbClr val="222222"/>
                </a:solidFill>
              </a:rPr>
              <a:t>Avoids spherical centroid assumptions, capturing natural branching to lead Davies-Bouldin.</a:t>
            </a:r>
          </a:p>
          <a:p>
            <a:pPr>
              <a:spcBef>
                <a:spcPts val="1200"/>
              </a:spcBef>
              <a:defRPr sz="1050">
                <a:latin typeface="Segoe UI"/>
              </a:defRPr>
            </a:pPr>
            <a:r>
              <a:rPr b="1">
                <a:solidFill>
                  <a:srgbClr val="D4AF37"/>
                </a:solidFill>
              </a:rPr>
              <a:t>Spectral Graph Density: </a:t>
            </a:r>
            <a:r>
              <a:rPr>
                <a:solidFill>
                  <a:srgbClr val="222222"/>
                </a:solidFill>
              </a:rPr>
              <a:t>Dense 10-NN graphs in 300D lead to noisy graph cuts and negative silhouette at k=50.</a:t>
            </a:r>
          </a:p>
          <a:p>
            <a:pPr>
              <a:spcBef>
                <a:spcPts val="1200"/>
              </a:spcBef>
              <a:defRPr sz="1050">
                <a:latin typeface="Segoe UI"/>
              </a:defRPr>
            </a:pPr>
            <a:r>
              <a:rPr b="1">
                <a:solidFill>
                  <a:srgbClr val="D4AF37"/>
                </a:solidFill>
              </a:rPr>
              <a:t>MiniBatch Centroid Drift: </a:t>
            </a:r>
            <a:r>
              <a:rPr>
                <a:solidFill>
                  <a:srgbClr val="222222"/>
                </a:solidFill>
              </a:rPr>
              <a:t>Stochastic subsampling accumulates noise, degrading silhouette at higher 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D4AF37"/>
                </a:solidFill>
                <a:latin typeface="Segoe UI"/>
              </a:defRPr>
            </a:pPr>
            <a:r>
              <a:t>ROBERTA_10K PIPELINE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222222"/>
                </a:solidFill>
                <a:latin typeface="Georgia"/>
              </a:defRPr>
            </a:pPr>
            <a:r>
              <a:t>Transformer Inference &amp; Masked Pooling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07008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696969"/>
                </a:solidFill>
                <a:latin typeface="Segoe UI"/>
              </a:defRPr>
            </a:pPr>
            <a:r>
              <a:t>Extracting 768-dimensional contextual representations using RoBERTa-Hindi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10545775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783080"/>
            <a:ext cx="51206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7280" y="1783080"/>
            <a:ext cx="457200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6596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22222"/>
                </a:solidFill>
                <a:latin typeface="Georgia"/>
              </a:defRPr>
            </a:pPr>
            <a:r>
              <a:t>1. Model &amp; Batched Inference</a:t>
            </a:r>
          </a:p>
          <a:p>
            <a:pPr>
              <a:spcBef>
                <a:spcPts val="1300"/>
              </a:spcBef>
              <a:defRPr sz="1100">
                <a:latin typeface="Segoe UI"/>
              </a:defRPr>
            </a:pPr>
            <a:r>
              <a:rPr b="1">
                <a:solidFill>
                  <a:srgbClr val="D4AF37"/>
                </a:solidFill>
              </a:rPr>
              <a:t>Model Architecture: </a:t>
            </a:r>
            <a:r>
              <a:rPr>
                <a:solidFill>
                  <a:srgbClr val="222222"/>
                </a:solidFill>
              </a:rPr>
              <a:t>Loaded flax-community/roberta-hindi (12-layer transformer, 768D).</a:t>
            </a:r>
          </a:p>
          <a:p>
            <a:pPr>
              <a:spcBef>
                <a:spcPts val="1300"/>
              </a:spcBef>
              <a:defRPr sz="1100">
                <a:latin typeface="Segoe UI"/>
              </a:defRPr>
            </a:pPr>
            <a:r>
              <a:rPr b="1">
                <a:solidFill>
                  <a:srgbClr val="D4AF37"/>
                </a:solidFill>
              </a:rPr>
              <a:t>Subword Tokenization: </a:t>
            </a:r>
            <a:r>
              <a:rPr>
                <a:solidFill>
                  <a:srgbClr val="222222"/>
                </a:solidFill>
              </a:rPr>
              <a:t>Byte-level BPE with dynamic padding (max_length=16).</a:t>
            </a:r>
          </a:p>
          <a:p>
            <a:pPr>
              <a:spcBef>
                <a:spcPts val="1300"/>
              </a:spcBef>
              <a:defRPr sz="1100">
                <a:latin typeface="Segoe UI"/>
              </a:defRPr>
            </a:pPr>
            <a:r>
              <a:rPr b="1">
                <a:solidFill>
                  <a:srgbClr val="D4AF37"/>
                </a:solidFill>
              </a:rPr>
              <a:t>GPU Batching: </a:t>
            </a:r>
            <a:r>
              <a:rPr>
                <a:solidFill>
                  <a:srgbClr val="222222"/>
                </a:solidFill>
              </a:rPr>
              <a:t>Processed tokens in batches of BATCH_SIZE = 64 using torch.no_grad().</a:t>
            </a:r>
          </a:p>
          <a:p>
            <a:pPr>
              <a:spcBef>
                <a:spcPts val="1300"/>
              </a:spcBef>
              <a:defRPr sz="1100">
                <a:latin typeface="Segoe UI"/>
              </a:defRPr>
            </a:pPr>
            <a:r>
              <a:rPr b="1">
                <a:solidFill>
                  <a:srgbClr val="D4AF37"/>
                </a:solidFill>
              </a:rPr>
              <a:t>Device Allocation: </a:t>
            </a:r>
            <a:r>
              <a:rPr>
                <a:solidFill>
                  <a:srgbClr val="222222"/>
                </a:solidFill>
              </a:rPr>
              <a:t>Dynamically routed tensors to CUDA GPU for rapid forward passes.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48095" y="1783080"/>
            <a:ext cx="51206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22415" y="1783080"/>
            <a:ext cx="457200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22415" y="196596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22222"/>
                </a:solidFill>
                <a:latin typeface="Georgia"/>
              </a:defRPr>
            </a:pPr>
            <a:r>
              <a:t>2. Masked Mean-Pooling &amp; Scaling</a:t>
            </a:r>
          </a:p>
          <a:p>
            <a:pPr>
              <a:spcBef>
                <a:spcPts val="1100"/>
              </a:spcBef>
              <a:defRPr sz="1100">
                <a:latin typeface="Segoe UI"/>
              </a:defRPr>
            </a:pPr>
            <a:r>
              <a:rPr b="1">
                <a:solidFill>
                  <a:srgbClr val="D4AF37"/>
                </a:solidFill>
              </a:rPr>
              <a:t>Masked Mean-Pooling: </a:t>
            </a:r>
            <a:r>
              <a:rPr>
                <a:solidFill>
                  <a:srgbClr val="222222"/>
                </a:solidFill>
              </a:rPr>
              <a:t>Multiplied last hidden states by attention masks to zero out padding.</a:t>
            </a:r>
          </a:p>
          <a:p>
            <a:pPr>
              <a:spcBef>
                <a:spcPts val="1100"/>
              </a:spcBef>
              <a:defRPr sz="1100">
                <a:latin typeface="Segoe UI"/>
              </a:defRPr>
            </a:pPr>
            <a:r>
              <a:rPr b="1">
                <a:solidFill>
                  <a:srgbClr val="D4AF37"/>
                </a:solidFill>
              </a:rPr>
              <a:t>Normalization Formula: </a:t>
            </a:r>
            <a:r>
              <a:rPr>
                <a:solidFill>
                  <a:srgbClr val="222222"/>
                </a:solidFill>
              </a:rPr>
              <a:t>Computed: sum(hidden * mask) / mask.sum(), isolating pure lexical semantics.</a:t>
            </a:r>
          </a:p>
          <a:p>
            <a:pPr>
              <a:spcBef>
                <a:spcPts val="1100"/>
              </a:spcBef>
              <a:defRPr sz="1100">
                <a:latin typeface="Segoe UI"/>
              </a:defRPr>
            </a:pPr>
            <a:r>
              <a:rPr b="1">
                <a:solidFill>
                  <a:srgbClr val="D4AF37"/>
                </a:solidFill>
              </a:rPr>
              <a:t>Dense Output: </a:t>
            </a:r>
            <a:r>
              <a:rPr>
                <a:solidFill>
                  <a:srgbClr val="222222"/>
                </a:solidFill>
              </a:rPr>
              <a:t>Yielded a clean embedding matrix X of shape (10000, 768).</a:t>
            </a:r>
          </a:p>
          <a:p>
            <a:pPr>
              <a:spcBef>
                <a:spcPts val="1100"/>
              </a:spcBef>
              <a:defRPr sz="1100">
                <a:latin typeface="Segoe UI"/>
              </a:defRPr>
            </a:pPr>
            <a:r>
              <a:rPr b="1">
                <a:solidFill>
                  <a:srgbClr val="D4AF37"/>
                </a:solidFill>
              </a:rPr>
              <a:t>Hypersphere Normalization: </a:t>
            </a:r>
            <a:r>
              <a:rPr>
                <a:solidFill>
                  <a:srgbClr val="222222"/>
                </a:solidFill>
              </a:rPr>
              <a:t>Scaled vectors to unit norm (||x||_2 = 1) for spherical clustering.</a:t>
            </a:r>
          </a:p>
          <a:p>
            <a:pPr>
              <a:spcBef>
                <a:spcPts val="1100"/>
              </a:spcBef>
              <a:defRPr sz="1100">
                <a:latin typeface="Segoe UI"/>
              </a:defRPr>
            </a:pPr>
            <a:r>
              <a:rPr b="1">
                <a:solidFill>
                  <a:srgbClr val="D4AF37"/>
                </a:solidFill>
              </a:rPr>
              <a:t>Artifact Storage: </a:t>
            </a:r>
            <a:r>
              <a:rPr>
                <a:solidFill>
                  <a:srgbClr val="222222"/>
                </a:solidFill>
              </a:rPr>
              <a:t>Persisted X_roberta_normalized.npy and words_roberta.txt.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D4AF37"/>
                </a:solidFill>
                <a:latin typeface="Segoe UI"/>
              </a:defRPr>
            </a:pPr>
            <a:r>
              <a:t>ROBERTA_10K PIPELINE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222222"/>
                </a:solidFill>
                <a:latin typeface="Georgia"/>
              </a:defRPr>
            </a:pPr>
            <a:r>
              <a:t>Clustering Suite, Quantization &amp; Benchmarking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07008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696969"/>
                </a:solidFill>
                <a:latin typeface="Segoe UI"/>
              </a:defRPr>
            </a:pPr>
            <a:r>
              <a:t>Running 5 clustering algorithms on 768D space with GPU speedups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10545775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783080"/>
            <a:ext cx="51206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7280" y="1783080"/>
            <a:ext cx="457200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6596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22222"/>
                </a:solidFill>
                <a:latin typeface="Georgia"/>
              </a:defRPr>
            </a:pPr>
            <a:r>
              <a:t>1. High-Dimensional Clustering</a:t>
            </a:r>
          </a:p>
          <a:p>
            <a:pPr>
              <a:spcBef>
                <a:spcPts val="1300"/>
              </a:spcBef>
              <a:defRPr sz="1100">
                <a:latin typeface="Segoe UI"/>
              </a:defRPr>
            </a:pPr>
            <a:r>
              <a:rPr b="1">
                <a:solidFill>
                  <a:srgbClr val="D4AF37"/>
                </a:solidFill>
              </a:rPr>
              <a:t>Strict Consistency: </a:t>
            </a:r>
            <a:r>
              <a:rPr>
                <a:solidFill>
                  <a:srgbClr val="222222"/>
                </a:solidFill>
              </a:rPr>
              <a:t>Executed the exact same 5 algorithms to guarantee benchmark validity.</a:t>
            </a:r>
          </a:p>
          <a:p>
            <a:pPr>
              <a:spcBef>
                <a:spcPts val="1300"/>
              </a:spcBef>
              <a:defRPr sz="1100">
                <a:latin typeface="Segoe UI"/>
              </a:defRPr>
            </a:pPr>
            <a:r>
              <a:rPr b="1">
                <a:solidFill>
                  <a:srgbClr val="D4AF37"/>
                </a:solidFill>
              </a:rPr>
              <a:t>cuML GPU Acceleration: </a:t>
            </a:r>
            <a:r>
              <a:rPr>
                <a:solidFill>
                  <a:srgbClr val="222222"/>
                </a:solidFill>
              </a:rPr>
              <a:t>Leveraged cuKMeans and cuGMM to accelerate 768D clustering.</a:t>
            </a:r>
          </a:p>
          <a:p>
            <a:pPr>
              <a:spcBef>
                <a:spcPts val="1300"/>
              </a:spcBef>
              <a:defRPr sz="1100">
                <a:latin typeface="Segoe UI"/>
              </a:defRPr>
            </a:pPr>
            <a:r>
              <a:rPr b="1">
                <a:solidFill>
                  <a:srgbClr val="D4AF37"/>
                </a:solidFill>
              </a:rPr>
              <a:t>Quantization Pipeline: </a:t>
            </a:r>
            <a:r>
              <a:rPr>
                <a:solidFill>
                  <a:srgbClr val="222222"/>
                </a:solidFill>
              </a:rPr>
              <a:t>Tested FP16/INT8 representation efficiency in clusters_quantised.py.</a:t>
            </a:r>
          </a:p>
          <a:p>
            <a:pPr>
              <a:spcBef>
                <a:spcPts val="1300"/>
              </a:spcBef>
              <a:defRPr sz="1100">
                <a:latin typeface="Segoe UI"/>
              </a:defRPr>
            </a:pPr>
            <a:r>
              <a:rPr b="1">
                <a:solidFill>
                  <a:srgbClr val="D4AF37"/>
                </a:solidFill>
              </a:rPr>
              <a:t>Cluster Output Integrity: </a:t>
            </a:r>
            <a:r>
              <a:rPr>
                <a:solidFill>
                  <a:srgbClr val="222222"/>
                </a:solidFill>
              </a:rPr>
              <a:t>Saved CSV assignments ensuring all k unique partitions were populated.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48095" y="1783080"/>
            <a:ext cx="51206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22415" y="1783080"/>
            <a:ext cx="457200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22415" y="196596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22222"/>
                </a:solidFill>
                <a:latin typeface="Georgia"/>
              </a:defRPr>
            </a:pPr>
            <a:r>
              <a:t>2. Evaluation Suite &amp; Logging</a:t>
            </a:r>
          </a:p>
          <a:p>
            <a:pPr>
              <a:spcBef>
                <a:spcPts val="1300"/>
              </a:spcBef>
              <a:defRPr sz="1100">
                <a:latin typeface="Segoe UI"/>
              </a:defRPr>
            </a:pPr>
            <a:r>
              <a:rPr b="1">
                <a:solidFill>
                  <a:srgbClr val="D4AF37"/>
                </a:solidFill>
              </a:rPr>
              <a:t>Parameter Sweep: </a:t>
            </a:r>
            <a:r>
              <a:rPr>
                <a:solidFill>
                  <a:srgbClr val="222222"/>
                </a:solidFill>
              </a:rPr>
              <a:t>Evaluated across k in [50, 100, 150, 200, 250, 300] directly on 768D.</a:t>
            </a:r>
          </a:p>
          <a:p>
            <a:pPr>
              <a:spcBef>
                <a:spcPts val="1300"/>
              </a:spcBef>
              <a:defRPr sz="1100">
                <a:latin typeface="Segoe UI"/>
              </a:defRPr>
            </a:pPr>
            <a:r>
              <a:rPr b="1">
                <a:solidFill>
                  <a:srgbClr val="D4AF37"/>
                </a:solidFill>
              </a:rPr>
              <a:t>Metric Pipeline: </a:t>
            </a:r>
            <a:r>
              <a:rPr>
                <a:solidFill>
                  <a:srgbClr val="222222"/>
                </a:solidFill>
              </a:rPr>
              <a:t>Automated calculation of WCSS, Silhouette, DB Index, and CH Score.</a:t>
            </a:r>
          </a:p>
          <a:p>
            <a:pPr>
              <a:spcBef>
                <a:spcPts val="1300"/>
              </a:spcBef>
              <a:defRPr sz="1100">
                <a:latin typeface="Segoe UI"/>
              </a:defRPr>
            </a:pPr>
            <a:r>
              <a:rPr b="1">
                <a:solidFill>
                  <a:srgbClr val="D4AF37"/>
                </a:solidFill>
              </a:rPr>
              <a:t>Exact WCSS Computation: </a:t>
            </a:r>
            <a:r>
              <a:rPr>
                <a:solidFill>
                  <a:srgbClr val="222222"/>
                </a:solidFill>
              </a:rPr>
              <a:t>Employed exact centroid deviation for models without native inertia.</a:t>
            </a:r>
          </a:p>
          <a:p>
            <a:pPr>
              <a:spcBef>
                <a:spcPts val="1300"/>
              </a:spcBef>
              <a:defRPr sz="1100">
                <a:latin typeface="Segoe UI"/>
              </a:defRPr>
            </a:pPr>
            <a:r>
              <a:rPr b="1">
                <a:solidFill>
                  <a:srgbClr val="D4AF37"/>
                </a:solidFill>
              </a:rPr>
              <a:t>Automated Visual Reporting: </a:t>
            </a:r>
            <a:r>
              <a:rPr>
                <a:solidFill>
                  <a:srgbClr val="222222"/>
                </a:solidFill>
              </a:rPr>
              <a:t>Generated clustering_comparison.png via plot_metrics.py.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lustering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8139" y="228600"/>
            <a:ext cx="7915417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D4AF37"/>
                </a:solidFill>
                <a:latin typeface="Segoe UI"/>
              </a:defRPr>
            </a:pPr>
            <a:r>
              <a:t>ROBERTA_10K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222222"/>
                </a:solidFill>
                <a:latin typeface="Georgia"/>
              </a:defRPr>
            </a:pPr>
            <a:r>
              <a:t>Methodological &amp; Geometric Mechanisms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07008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696969"/>
                </a:solidFill>
                <a:latin typeface="Segoe UI"/>
              </a:defRPr>
            </a:pPr>
            <a:r>
              <a:t>Why deep contextual pretraining dramatically outperforms static subword embeddings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10545775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783080"/>
            <a:ext cx="3328416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51560" y="1783080"/>
            <a:ext cx="2871216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965960"/>
            <a:ext cx="287121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22222"/>
                </a:solidFill>
                <a:latin typeface="Georgia"/>
              </a:defRPr>
            </a:pPr>
            <a:r>
              <a:t>1. Contextual Semantics</a:t>
            </a:r>
          </a:p>
          <a:p>
            <a:pPr>
              <a:spcBef>
                <a:spcPts val="1200"/>
              </a:spcBef>
              <a:defRPr sz="1050">
                <a:latin typeface="Segoe UI"/>
              </a:defRPr>
            </a:pPr>
            <a:r>
              <a:rPr b="1">
                <a:solidFill>
                  <a:srgbClr val="D4AF37"/>
                </a:solidFill>
              </a:rPr>
              <a:t>Deep Context: </a:t>
            </a:r>
            <a:r>
              <a:rPr>
                <a:solidFill>
                  <a:srgbClr val="222222"/>
                </a:solidFill>
              </a:rPr>
              <a:t>Pretrained with Masked Language Modeling across millions of sentences.</a:t>
            </a:r>
          </a:p>
          <a:p>
            <a:pPr>
              <a:spcBef>
                <a:spcPts val="1200"/>
              </a:spcBef>
              <a:defRPr sz="1050">
                <a:latin typeface="Segoe UI"/>
              </a:defRPr>
            </a:pPr>
            <a:r>
              <a:rPr b="1">
                <a:solidFill>
                  <a:srgbClr val="D4AF37"/>
                </a:solidFill>
              </a:rPr>
              <a:t>Morphological Immunity: </a:t>
            </a:r>
            <a:r>
              <a:rPr>
                <a:solidFill>
                  <a:srgbClr val="222222"/>
                </a:solidFill>
              </a:rPr>
              <a:t>Words with identical grammatical endings are not artificially merged.</a:t>
            </a:r>
          </a:p>
          <a:p>
            <a:pPr>
              <a:spcBef>
                <a:spcPts val="1200"/>
              </a:spcBef>
              <a:defRPr sz="1050">
                <a:latin typeface="Segoe UI"/>
              </a:defRPr>
            </a:pPr>
            <a:r>
              <a:rPr b="1">
                <a:solidFill>
                  <a:srgbClr val="D4AF37"/>
                </a:solidFill>
              </a:rPr>
              <a:t>Impact on WCSS &amp; CH: </a:t>
            </a:r>
            <a:r>
              <a:rPr>
                <a:solidFill>
                  <a:srgbClr val="222222"/>
                </a:solidFill>
              </a:rPr>
              <a:t>Genuine semantic cohesion produces dense, well-separated cluster cores.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25696" y="1783080"/>
            <a:ext cx="3328416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54296" y="1783080"/>
            <a:ext cx="2871216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54296" y="1965960"/>
            <a:ext cx="287121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22222"/>
                </a:solidFill>
                <a:latin typeface="Georgia"/>
              </a:defRPr>
            </a:pPr>
            <a:r>
              <a:t>2. Representation Anisotropy</a:t>
            </a:r>
          </a:p>
          <a:p>
            <a:pPr>
              <a:spcBef>
                <a:spcPts val="1200"/>
              </a:spcBef>
              <a:defRPr sz="1050">
                <a:latin typeface="Segoe UI"/>
              </a:defRPr>
            </a:pPr>
            <a:r>
              <a:rPr b="1">
                <a:solidFill>
                  <a:srgbClr val="D4AF37"/>
                </a:solidFill>
              </a:rPr>
              <a:t>Anisotropic Cones: </a:t>
            </a:r>
            <a:r>
              <a:rPr>
                <a:solidFill>
                  <a:srgbClr val="222222"/>
                </a:solidFill>
              </a:rPr>
              <a:t>Transformer vectors naturally populate narrow directional cones in 768D space.</a:t>
            </a:r>
          </a:p>
          <a:p>
            <a:pPr>
              <a:spcBef>
                <a:spcPts val="1200"/>
              </a:spcBef>
              <a:defRPr sz="1050">
                <a:latin typeface="Segoe UI"/>
              </a:defRPr>
            </a:pPr>
            <a:r>
              <a:rPr b="1">
                <a:solidFill>
                  <a:srgbClr val="D4AF37"/>
                </a:solidFill>
              </a:rPr>
              <a:t>Angular Dispersal: </a:t>
            </a:r>
            <a:r>
              <a:rPr>
                <a:solidFill>
                  <a:srgbClr val="222222"/>
                </a:solidFill>
              </a:rPr>
              <a:t>L2 normalization separates semantic classes into distinct sub-cones.</a:t>
            </a:r>
          </a:p>
          <a:p>
            <a:pPr>
              <a:spcBef>
                <a:spcPts val="1200"/>
              </a:spcBef>
              <a:defRPr sz="1050">
                <a:latin typeface="Segoe UI"/>
              </a:defRPr>
            </a:pPr>
            <a:r>
              <a:rPr b="1">
                <a:solidFill>
                  <a:srgbClr val="D4AF37"/>
                </a:solidFill>
              </a:rPr>
              <a:t>768D Expressivity: </a:t>
            </a:r>
            <a:r>
              <a:rPr>
                <a:solidFill>
                  <a:srgbClr val="222222"/>
                </a:solidFill>
              </a:rPr>
              <a:t>High dimensionality provides ample space to isolate fine-grained lexical categories.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28431" y="1783080"/>
            <a:ext cx="3328416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57031" y="1783080"/>
            <a:ext cx="2871216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57031" y="1965960"/>
            <a:ext cx="287121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22222"/>
                </a:solidFill>
                <a:latin typeface="Georgia"/>
              </a:defRPr>
            </a:pPr>
            <a:r>
              <a:t>3. Algorithmic Synergy</a:t>
            </a:r>
          </a:p>
          <a:p>
            <a:pPr>
              <a:spcBef>
                <a:spcPts val="1200"/>
              </a:spcBef>
              <a:defRPr sz="1050">
                <a:latin typeface="Segoe UI"/>
              </a:defRPr>
            </a:pPr>
            <a:r>
              <a:rPr b="1">
                <a:solidFill>
                  <a:srgbClr val="D4AF37"/>
                </a:solidFill>
              </a:rPr>
              <a:t>Voronoi Precision: </a:t>
            </a:r>
            <a:r>
              <a:rPr>
                <a:solidFill>
                  <a:srgbClr val="222222"/>
                </a:solidFill>
              </a:rPr>
              <a:t>K-Means spherical Voronoi cells fit transformer directional cones with high fidelity.</a:t>
            </a:r>
          </a:p>
          <a:p>
            <a:pPr>
              <a:spcBef>
                <a:spcPts val="1200"/>
              </a:spcBef>
              <a:defRPr sz="1050">
                <a:latin typeface="Segoe UI"/>
              </a:defRPr>
            </a:pPr>
            <a:r>
              <a:rPr b="1">
                <a:solidFill>
                  <a:srgbClr val="D4AF37"/>
                </a:solidFill>
              </a:rPr>
              <a:t>Hierarchical Capture: </a:t>
            </a:r>
            <a:r>
              <a:rPr>
                <a:solidFill>
                  <a:srgbClr val="222222"/>
                </a:solidFill>
              </a:rPr>
              <a:t>Agglomerative Cosine captures taxonomic hierarchies (hyponyms) cleanly.</a:t>
            </a:r>
          </a:p>
          <a:p>
            <a:pPr>
              <a:spcBef>
                <a:spcPts val="1200"/>
              </a:spcBef>
              <a:defRPr sz="1050">
                <a:latin typeface="Segoe UI"/>
              </a:defRPr>
            </a:pPr>
            <a:r>
              <a:rPr b="1">
                <a:solidFill>
                  <a:srgbClr val="D4AF37"/>
                </a:solidFill>
              </a:rPr>
              <a:t>Stable Spectral Cuts: </a:t>
            </a:r>
            <a:r>
              <a:rPr>
                <a:solidFill>
                  <a:srgbClr val="222222"/>
                </a:solidFill>
              </a:rPr>
              <a:t>Contextual coherence cleans the 10-NN graph, avoiding negative silhouette at low 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D4AF37"/>
                </a:solidFill>
                <a:latin typeface="Segoe UI"/>
              </a:defRPr>
            </a:pPr>
            <a:r>
              <a:t>WORD2VEC-HINDI PIPELINE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222222"/>
                </a:solidFill>
                <a:latin typeface="Georgia"/>
              </a:defRPr>
            </a:pPr>
            <a:r>
              <a:t>Skip-Gram Model &amp; Lexical Alignment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07008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696969"/>
                </a:solidFill>
                <a:latin typeface="Segoe UI"/>
              </a:defRPr>
            </a:pPr>
            <a:r>
              <a:t>AbhishekBiswas12/word2vec-hindi architecture and alignment with 20,000 Shabd entries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10545775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783080"/>
            <a:ext cx="51206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7280" y="1783080"/>
            <a:ext cx="457200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6596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22222"/>
                </a:solidFill>
                <a:latin typeface="Georgia"/>
              </a:defRPr>
            </a:pPr>
            <a:r>
              <a:t>1. Model Architecture &amp; Training Corpus</a:t>
            </a:r>
          </a:p>
          <a:p>
            <a:pPr>
              <a:spcBef>
                <a:spcPts val="1100"/>
              </a:spcBef>
              <a:defRPr sz="1100">
                <a:latin typeface="Segoe UI"/>
              </a:defRPr>
            </a:pPr>
            <a:r>
              <a:rPr b="1">
                <a:solidFill>
                  <a:srgbClr val="D4AF37"/>
                </a:solidFill>
              </a:rPr>
              <a:t>Model Origin: </a:t>
            </a:r>
            <a:r>
              <a:rPr>
                <a:solidFill>
                  <a:srgbClr val="222222"/>
                </a:solidFill>
              </a:rPr>
              <a:t>Employs AbhishekBiswas12/word2vec-hindi, a PyTorch Word2Vec Skip-gram model.</a:t>
            </a:r>
          </a:p>
          <a:p>
            <a:pPr>
              <a:spcBef>
                <a:spcPts val="1100"/>
              </a:spcBef>
              <a:defRPr sz="1100">
                <a:latin typeface="Segoe UI"/>
              </a:defRPr>
            </a:pPr>
            <a:r>
              <a:rPr b="1">
                <a:solidFill>
                  <a:srgbClr val="D4AF37"/>
                </a:solidFill>
              </a:rPr>
              <a:t>Training Scale: </a:t>
            </a:r>
            <a:r>
              <a:rPr>
                <a:solidFill>
                  <a:srgbClr val="222222"/>
                </a:solidFill>
              </a:rPr>
              <a:t>Trained on 82M+ tokens across 5 Hindi corpora (Bible, IITB Parallel, Wikipedia).</a:t>
            </a:r>
          </a:p>
          <a:p>
            <a:pPr>
              <a:spcBef>
                <a:spcPts val="1100"/>
              </a:spcBef>
              <a:defRPr sz="1100">
                <a:latin typeface="Segoe UI"/>
              </a:defRPr>
            </a:pPr>
            <a:r>
              <a:rPr b="1">
                <a:solidFill>
                  <a:srgbClr val="D4AF37"/>
                </a:solidFill>
              </a:rPr>
              <a:t>Vocabulary Capacity: </a:t>
            </a:r>
            <a:r>
              <a:rPr>
                <a:solidFill>
                  <a:srgbClr val="222222"/>
                </a:solidFill>
              </a:rPr>
              <a:t>Spans 508,205 unique lexical entries with 300-dimensional embeddings.</a:t>
            </a:r>
          </a:p>
          <a:p>
            <a:pPr>
              <a:spcBef>
                <a:spcPts val="1100"/>
              </a:spcBef>
              <a:defRPr sz="1100">
                <a:latin typeface="Segoe UI"/>
              </a:defRPr>
            </a:pPr>
            <a:r>
              <a:rPr b="1">
                <a:solidFill>
                  <a:srgbClr val="D4AF37"/>
                </a:solidFill>
              </a:rPr>
              <a:t>PyTorch Unpickling: </a:t>
            </a:r>
            <a:r>
              <a:rPr>
                <a:solidFill>
                  <a:srgbClr val="222222"/>
                </a:solidFill>
              </a:rPr>
              <a:t>Registers custom Word2Vec class into __main__ for clean state deserialization.</a:t>
            </a:r>
          </a:p>
          <a:p>
            <a:pPr>
              <a:spcBef>
                <a:spcPts val="1100"/>
              </a:spcBef>
              <a:defRPr sz="1100">
                <a:latin typeface="Segoe UI"/>
              </a:defRPr>
            </a:pPr>
            <a:r>
              <a:rPr b="1">
                <a:solidFill>
                  <a:srgbClr val="D4AF37"/>
                </a:solidFill>
              </a:rPr>
              <a:t>Objective: </a:t>
            </a:r>
            <a:r>
              <a:rPr>
                <a:solidFill>
                  <a:srgbClr val="222222"/>
                </a:solidFill>
              </a:rPr>
              <a:t>Trained with negative sampling (BCEWithLogitsLoss) capturing word-level co-occurrences.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48095" y="1783080"/>
            <a:ext cx="51206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22415" y="1783080"/>
            <a:ext cx="457200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22415" y="196596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22222"/>
                </a:solidFill>
                <a:latin typeface="Georgia"/>
              </a:defRPr>
            </a:pPr>
            <a:r>
              <a:t>2. Shabd Alignment &amp; GPU Slicing</a:t>
            </a:r>
          </a:p>
          <a:p>
            <a:pPr>
              <a:spcBef>
                <a:spcPts val="1100"/>
              </a:spcBef>
              <a:defRPr sz="1100">
                <a:latin typeface="Segoe UI"/>
              </a:defRPr>
            </a:pPr>
            <a:r>
              <a:rPr b="1">
                <a:solidFill>
                  <a:srgbClr val="D4AF37"/>
                </a:solidFill>
              </a:rPr>
              <a:t>Shabd 34k Filtering: </a:t>
            </a:r>
            <a:r>
              <a:rPr>
                <a:solidFill>
                  <a:srgbClr val="222222"/>
                </a:solidFill>
              </a:rPr>
              <a:t>Scanned 33,676 Shabd words; identified 28,121 matches in the Word2Vec vocabulary.</a:t>
            </a:r>
          </a:p>
          <a:p>
            <a:pPr>
              <a:spcBef>
                <a:spcPts val="1100"/>
              </a:spcBef>
              <a:defRPr sz="1100">
                <a:latin typeface="Segoe UI"/>
              </a:defRPr>
            </a:pPr>
            <a:r>
              <a:rPr b="1">
                <a:solidFill>
                  <a:srgbClr val="D4AF37"/>
                </a:solidFill>
              </a:rPr>
              <a:t>Frequency Subsampling: </a:t>
            </a:r>
            <a:r>
              <a:rPr>
                <a:solidFill>
                  <a:srgbClr val="222222"/>
                </a:solidFill>
              </a:rPr>
              <a:t>Selected the top 20,000 frequent matching entries (NUM_WORDS=20000) for fast execution.</a:t>
            </a:r>
          </a:p>
          <a:p>
            <a:pPr>
              <a:spcBef>
                <a:spcPts val="1100"/>
              </a:spcBef>
              <a:defRPr sz="1100">
                <a:latin typeface="Segoe UI"/>
              </a:defRPr>
            </a:pPr>
            <a:r>
              <a:rPr b="1">
                <a:solidFill>
                  <a:srgbClr val="D4AF37"/>
                </a:solidFill>
              </a:rPr>
              <a:t>Zero-Copy GPU Slicing: </a:t>
            </a:r>
            <a:r>
              <a:rPr>
                <a:solidFill>
                  <a:srgbClr val="222222"/>
                </a:solidFill>
              </a:rPr>
              <a:t>Directly indexes input_embedding_layer.weight on GPU via PyTorch CUDA tensors.</a:t>
            </a:r>
          </a:p>
          <a:p>
            <a:pPr>
              <a:spcBef>
                <a:spcPts val="1100"/>
              </a:spcBef>
              <a:defRPr sz="1100">
                <a:latin typeface="Segoe UI"/>
              </a:defRPr>
            </a:pPr>
            <a:r>
              <a:rPr b="1">
                <a:solidFill>
                  <a:srgbClr val="D4AF37"/>
                </a:solidFill>
              </a:rPr>
              <a:t>GPU Normalization: </a:t>
            </a:r>
            <a:r>
              <a:rPr>
                <a:solidFill>
                  <a:srgbClr val="222222"/>
                </a:solidFill>
              </a:rPr>
              <a:t>Applies torch.nn.functional.normalize(X, p=2, dim=1) in milliseconds on CUDA.</a:t>
            </a:r>
          </a:p>
          <a:p>
            <a:pPr>
              <a:spcBef>
                <a:spcPts val="1100"/>
              </a:spcBef>
              <a:defRPr sz="1100">
                <a:latin typeface="Segoe UI"/>
              </a:defRPr>
            </a:pPr>
            <a:r>
              <a:rPr b="1">
                <a:solidFill>
                  <a:srgbClr val="D4AF37"/>
                </a:solidFill>
              </a:rPr>
              <a:t>Artifact Storage: </a:t>
            </a:r>
            <a:r>
              <a:rPr>
                <a:solidFill>
                  <a:srgbClr val="222222"/>
                </a:solidFill>
              </a:rPr>
              <a:t>Persists X_word2vec_normalized.npy (20000, 300) and words_word2vec.txt.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D4AF37"/>
                </a:solidFill>
                <a:latin typeface="Segoe UI"/>
              </a:defRPr>
            </a:pPr>
            <a:r>
              <a:t>WORD2VEC-HINDI PIPELINE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222222"/>
                </a:solidFill>
                <a:latin typeface="Georgia"/>
              </a:defRPr>
            </a:pPr>
            <a:r>
              <a:t>Clustering Suite &amp; Runtime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07008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696969"/>
                </a:solidFill>
                <a:latin typeface="Segoe UI"/>
              </a:defRPr>
            </a:pPr>
            <a:r>
              <a:t>Exclusion of Spectral Clustering for high speed and GPU-accelerated evaluation across k = 50 to 300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10545775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783080"/>
            <a:ext cx="51206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7280" y="1783080"/>
            <a:ext cx="457200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6596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22222"/>
                </a:solidFill>
                <a:latin typeface="Georgia"/>
              </a:defRPr>
            </a:pPr>
            <a:r>
              <a:t>1. Active 4-Algorithm Suite</a:t>
            </a:r>
          </a:p>
          <a:p>
            <a:pPr>
              <a:spcBef>
                <a:spcPts val="1100"/>
              </a:spcBef>
              <a:defRPr sz="1100">
                <a:latin typeface="Segoe UI"/>
              </a:defRPr>
            </a:pPr>
            <a:r>
              <a:rPr b="1">
                <a:solidFill>
                  <a:srgbClr val="D4AF37"/>
                </a:solidFill>
              </a:rPr>
              <a:t>MiniBatchKMeans: </a:t>
            </a:r>
            <a:r>
              <a:rPr>
                <a:solidFill>
                  <a:srgbClr val="222222"/>
                </a:solidFill>
              </a:rPr>
              <a:t>Stochastic fast K-Means approximation completing in ~3.2 seconds.</a:t>
            </a:r>
          </a:p>
          <a:p>
            <a:pPr>
              <a:spcBef>
                <a:spcPts val="1100"/>
              </a:spcBef>
              <a:defRPr sz="1100">
                <a:latin typeface="Segoe UI"/>
              </a:defRPr>
            </a:pPr>
            <a:r>
              <a:rPr b="1">
                <a:solidFill>
                  <a:srgbClr val="D4AF37"/>
                </a:solidFill>
              </a:rPr>
              <a:t>Voronoi Partition: </a:t>
            </a:r>
            <a:r>
              <a:rPr>
                <a:solidFill>
                  <a:srgbClr val="222222"/>
                </a:solidFill>
              </a:rPr>
              <a:t>Exact K-Means with k-means++ auto-initialization completing in ~6.3 seconds.</a:t>
            </a:r>
          </a:p>
          <a:p>
            <a:pPr>
              <a:spcBef>
                <a:spcPts val="1100"/>
              </a:spcBef>
              <a:defRPr sz="1100">
                <a:latin typeface="Segoe UI"/>
              </a:defRPr>
            </a:pPr>
            <a:r>
              <a:rPr b="1">
                <a:solidFill>
                  <a:srgbClr val="D4AF37"/>
                </a:solidFill>
              </a:rPr>
              <a:t>Gaussian Mixture (GMM): </a:t>
            </a:r>
            <a:r>
              <a:rPr>
                <a:solidFill>
                  <a:srgbClr val="222222"/>
                </a:solidFill>
              </a:rPr>
              <a:t>Probabilistic EM clustering with diagonal covariance matrix (~20.5 seconds).</a:t>
            </a:r>
          </a:p>
          <a:p>
            <a:pPr>
              <a:spcBef>
                <a:spcPts val="1100"/>
              </a:spcBef>
              <a:defRPr sz="1100">
                <a:latin typeface="Segoe UI"/>
              </a:defRPr>
            </a:pPr>
            <a:r>
              <a:rPr b="1">
                <a:solidFill>
                  <a:srgbClr val="D4AF37"/>
                </a:solidFill>
              </a:rPr>
              <a:t>Agglomerative Cosine: </a:t>
            </a:r>
            <a:r>
              <a:rPr>
                <a:solidFill>
                  <a:srgbClr val="222222"/>
                </a:solidFill>
              </a:rPr>
              <a:t>Hierarchical average-linkage tree built directly on cosine distance (~83.6 seconds).</a:t>
            </a:r>
          </a:p>
          <a:p>
            <a:pPr>
              <a:spcBef>
                <a:spcPts val="1100"/>
              </a:spcBef>
              <a:defRPr sz="1100">
                <a:latin typeface="Segoe UI"/>
              </a:defRPr>
            </a:pPr>
            <a:r>
              <a:rPr b="1">
                <a:solidFill>
                  <a:srgbClr val="D4AF37"/>
                </a:solidFill>
              </a:rPr>
              <a:t>Spectral Removal: </a:t>
            </a:r>
            <a:r>
              <a:rPr>
                <a:solidFill>
                  <a:srgbClr val="222222"/>
                </a:solidFill>
              </a:rPr>
              <a:t>Omitted Spectral Clustering, eliminating 20,000x20,000 graph and eigen-decomposition bottleneck.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48095" y="1783080"/>
            <a:ext cx="51206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22415" y="1783080"/>
            <a:ext cx="457200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22415" y="196596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22222"/>
                </a:solidFill>
                <a:latin typeface="Georgia"/>
              </a:defRPr>
            </a:pPr>
            <a:r>
              <a:t>2. GPU Acceleration &amp; Fast Sweep</a:t>
            </a:r>
          </a:p>
          <a:p>
            <a:pPr>
              <a:spcBef>
                <a:spcPts val="1100"/>
              </a:spcBef>
              <a:defRPr sz="1100">
                <a:latin typeface="Segoe UI"/>
              </a:defRPr>
            </a:pPr>
            <a:r>
              <a:rPr b="1">
                <a:solidFill>
                  <a:srgbClr val="D4AF37"/>
                </a:solidFill>
              </a:rPr>
              <a:t>RAPIDS cuML: </a:t>
            </a:r>
            <a:r>
              <a:rPr>
                <a:solidFill>
                  <a:srgbClr val="222222"/>
                </a:solidFill>
              </a:rPr>
              <a:t>Accelerates cuKMeans, cuMiniBatch, and cuGMM on CUDA GPU, dropping runtimes by 10x-50x.</a:t>
            </a:r>
          </a:p>
          <a:p>
            <a:pPr>
              <a:spcBef>
                <a:spcPts val="1100"/>
              </a:spcBef>
              <a:defRPr sz="1100">
                <a:latin typeface="Segoe UI"/>
              </a:defRPr>
            </a:pPr>
            <a:r>
              <a:rPr b="1">
                <a:solidFill>
                  <a:srgbClr val="D4AF37"/>
                </a:solidFill>
              </a:rPr>
              <a:t>Vectorized GPU WCSS: </a:t>
            </a:r>
            <a:r>
              <a:rPr>
                <a:solidFill>
                  <a:srgbClr val="222222"/>
                </a:solidFill>
              </a:rPr>
              <a:t>PyTorch CUDA tensors compute non-native inertia for Agglomerative in milliseconds.</a:t>
            </a:r>
          </a:p>
          <a:p>
            <a:pPr>
              <a:spcBef>
                <a:spcPts val="1100"/>
              </a:spcBef>
              <a:defRPr sz="1100">
                <a:latin typeface="Segoe UI"/>
              </a:defRPr>
            </a:pPr>
            <a:r>
              <a:rPr b="1">
                <a:solidFill>
                  <a:srgbClr val="D4AF37"/>
                </a:solidFill>
              </a:rPr>
              <a:t>Sampled Silhouette: </a:t>
            </a:r>
            <a:r>
              <a:rPr>
                <a:solidFill>
                  <a:srgbClr val="222222"/>
                </a:solidFill>
              </a:rPr>
              <a:t>Computes silhouette on a 10,000 random subset in ~2.6s, eliminating O(N^2) memory lockup.</a:t>
            </a:r>
          </a:p>
          <a:p>
            <a:pPr>
              <a:spcBef>
                <a:spcPts val="1100"/>
              </a:spcBef>
              <a:defRPr sz="1100">
                <a:latin typeface="Segoe UI"/>
              </a:defRPr>
            </a:pPr>
            <a:r>
              <a:rPr b="1">
                <a:solidFill>
                  <a:srgbClr val="D4AF37"/>
                </a:solidFill>
              </a:rPr>
              <a:t>Runtime Profile: </a:t>
            </a:r>
            <a:r>
              <a:rPr>
                <a:solidFill>
                  <a:srgbClr val="222222"/>
                </a:solidFill>
              </a:rPr>
              <a:t>Full cluster.py completes in ~1.5 min on CPU (~15s on GPU); evaluate_cluster.py takes ~10 min on CPU (~2 min on GPU).</a:t>
            </a:r>
          </a:p>
          <a:p>
            <a:pPr>
              <a:spcBef>
                <a:spcPts val="1100"/>
              </a:spcBef>
              <a:defRPr sz="1100">
                <a:latin typeface="Segoe UI"/>
              </a:defRPr>
            </a:pPr>
            <a:r>
              <a:rPr b="1">
                <a:solidFill>
                  <a:srgbClr val="D4AF37"/>
                </a:solidFill>
              </a:rPr>
              <a:t>Reporting &amp; Plotting: </a:t>
            </a:r>
            <a:r>
              <a:rPr>
                <a:solidFill>
                  <a:srgbClr val="222222"/>
                </a:solidFill>
              </a:rPr>
              <a:t>Outputs clustering_metrics_word2vec.csv and 2x2 comparison grid in plot_metric.py.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lustering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2265" y="228600"/>
            <a:ext cx="7967164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D4AF37"/>
                </a:solidFill>
                <a:latin typeface="Segoe UI"/>
              </a:defRPr>
            </a:pPr>
            <a:r>
              <a:t>WORD2VEC-HINDI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222222"/>
                </a:solidFill>
                <a:latin typeface="Georgia"/>
              </a:defRPr>
            </a:pPr>
            <a:r>
              <a:t>Methodological &amp; Geometric Mechanisms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07008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696969"/>
                </a:solidFill>
                <a:latin typeface="Segoe UI"/>
              </a:defRPr>
            </a:pPr>
            <a:r>
              <a:t>How word-level skip-gram training shapes semantic cluster geometry compared to subwords and transformers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10545775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783080"/>
            <a:ext cx="3328416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51560" y="1783080"/>
            <a:ext cx="2871216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965960"/>
            <a:ext cx="287121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22222"/>
                </a:solidFill>
                <a:latin typeface="Georgia"/>
              </a:defRPr>
            </a:pPr>
            <a:r>
              <a:t>1. Whole-Word vs. Subwords</a:t>
            </a:r>
          </a:p>
          <a:p>
            <a:pPr>
              <a:spcBef>
                <a:spcPts val="1200"/>
              </a:spcBef>
              <a:defRPr sz="1050">
                <a:latin typeface="Segoe UI"/>
              </a:defRPr>
            </a:pPr>
            <a:r>
              <a:rPr b="1">
                <a:solidFill>
                  <a:srgbClr val="D4AF37"/>
                </a:solidFill>
              </a:rPr>
              <a:t>No Morphological Bleed: </a:t>
            </a:r>
            <a:r>
              <a:rPr>
                <a:solidFill>
                  <a:srgbClr val="222222"/>
                </a:solidFill>
              </a:rPr>
              <a:t>Word2Vec treats tokens as atomic IDs. Words sharing suffixes (e.g. -कर) are not artificially bound.</a:t>
            </a:r>
          </a:p>
          <a:p>
            <a:pPr>
              <a:spcBef>
                <a:spcPts val="1200"/>
              </a:spcBef>
              <a:defRPr sz="1050">
                <a:latin typeface="Segoe UI"/>
              </a:defRPr>
            </a:pPr>
            <a:r>
              <a:rPr b="1">
                <a:solidFill>
                  <a:srgbClr val="D4AF37"/>
                </a:solidFill>
              </a:rPr>
              <a:t>Distributional Semantics: </a:t>
            </a:r>
            <a:r>
              <a:rPr>
                <a:solidFill>
                  <a:srgbClr val="222222"/>
                </a:solidFill>
              </a:rPr>
              <a:t>Embeddings reflect co-occurrence in a 5-token window, grouping topical and associative cohorts.</a:t>
            </a:r>
          </a:p>
          <a:p>
            <a:pPr>
              <a:spcBef>
                <a:spcPts val="1200"/>
              </a:spcBef>
              <a:defRPr sz="1050">
                <a:latin typeface="Segoe UI"/>
              </a:defRPr>
            </a:pPr>
            <a:r>
              <a:rPr b="1">
                <a:solidFill>
                  <a:srgbClr val="D4AF37"/>
                </a:solidFill>
              </a:rPr>
              <a:t>Clean Lexical Boundaries: </a:t>
            </a:r>
            <a:r>
              <a:rPr>
                <a:solidFill>
                  <a:srgbClr val="222222"/>
                </a:solidFill>
              </a:rPr>
              <a:t>Produces sharper categorical separation than FastText's continuous n-gram manifold.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25696" y="1783080"/>
            <a:ext cx="3328416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54296" y="1783080"/>
            <a:ext cx="2871216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54296" y="1965960"/>
            <a:ext cx="287121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22222"/>
                </a:solidFill>
                <a:latin typeface="Georgia"/>
              </a:defRPr>
            </a:pPr>
            <a:r>
              <a:t>2. Static vs. Contextual Space</a:t>
            </a:r>
          </a:p>
          <a:p>
            <a:pPr>
              <a:spcBef>
                <a:spcPts val="1200"/>
              </a:spcBef>
              <a:defRPr sz="1050">
                <a:latin typeface="Segoe UI"/>
              </a:defRPr>
            </a:pPr>
            <a:r>
              <a:rPr b="1">
                <a:solidFill>
                  <a:srgbClr val="D4AF37"/>
                </a:solidFill>
              </a:rPr>
              <a:t>Higher CH than FastText: </a:t>
            </a:r>
            <a:r>
              <a:rPr>
                <a:solidFill>
                  <a:srgbClr val="222222"/>
                </a:solidFill>
              </a:rPr>
              <a:t>Calinski-Harabasz peaks at 78.99 (k=50) and reaches 24.47 (k=200), nearly 2x FastText (12.87).</a:t>
            </a:r>
          </a:p>
          <a:p>
            <a:pPr>
              <a:spcBef>
                <a:spcPts val="1200"/>
              </a:spcBef>
              <a:defRPr sz="1050">
                <a:latin typeface="Segoe UI"/>
              </a:defRPr>
            </a:pPr>
            <a:r>
              <a:rPr b="1">
                <a:solidFill>
                  <a:srgbClr val="D4AF37"/>
                </a:solidFill>
              </a:rPr>
              <a:t>Isotropic Distribution: </a:t>
            </a:r>
            <a:r>
              <a:rPr>
                <a:solidFill>
                  <a:srgbClr val="222222"/>
                </a:solidFill>
              </a:rPr>
              <a:t>Word2Vec vectors spread more uniformly across 300D, avoiding RoBERTa's ultra-narrow anisotropic cone.</a:t>
            </a:r>
          </a:p>
          <a:p>
            <a:pPr>
              <a:spcBef>
                <a:spcPts val="1200"/>
              </a:spcBef>
              <a:defRPr sz="1050">
                <a:latin typeface="Segoe UI"/>
              </a:defRPr>
            </a:pPr>
            <a:r>
              <a:rPr b="1">
                <a:solidFill>
                  <a:srgbClr val="D4AF37"/>
                </a:solidFill>
              </a:rPr>
              <a:t>WCSS &amp; Separation: </a:t>
            </a:r>
            <a:r>
              <a:rPr>
                <a:solidFill>
                  <a:srgbClr val="222222"/>
                </a:solidFill>
              </a:rPr>
              <a:t>MiniBatch achieves excellent DB separation (2.85 at k=200), while Voronoi leads cluster density.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28431" y="1783080"/>
            <a:ext cx="3328416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57031" y="1783080"/>
            <a:ext cx="2871216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57031" y="1965960"/>
            <a:ext cx="287121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22222"/>
                </a:solidFill>
                <a:latin typeface="Georgia"/>
              </a:defRPr>
            </a:pPr>
            <a:r>
              <a:t>3. Algorithmic Fit &amp; Efficiency</a:t>
            </a:r>
          </a:p>
          <a:p>
            <a:pPr>
              <a:spcBef>
                <a:spcPts val="1200"/>
              </a:spcBef>
              <a:defRPr sz="1050">
                <a:latin typeface="Segoe UI"/>
              </a:defRPr>
            </a:pPr>
            <a:r>
              <a:rPr b="1">
                <a:solidFill>
                  <a:srgbClr val="D4AF37"/>
                </a:solidFill>
              </a:rPr>
              <a:t>Voronoi Partition: </a:t>
            </a:r>
            <a:r>
              <a:rPr>
                <a:solidFill>
                  <a:srgbClr val="222222"/>
                </a:solidFill>
              </a:rPr>
              <a:t>Directly optimizes spherical Euclidean scatter; ideal baseline for semantic categorization.</a:t>
            </a:r>
          </a:p>
          <a:p>
            <a:pPr>
              <a:spcBef>
                <a:spcPts val="1200"/>
              </a:spcBef>
              <a:defRPr sz="1050">
                <a:latin typeface="Segoe UI"/>
              </a:defRPr>
            </a:pPr>
            <a:r>
              <a:rPr b="1">
                <a:solidFill>
                  <a:srgbClr val="D4AF37"/>
                </a:solidFill>
              </a:rPr>
              <a:t>Agglomerative Cosine: </a:t>
            </a:r>
            <a:r>
              <a:rPr>
                <a:solidFill>
                  <a:srgbClr val="222222"/>
                </a:solidFill>
              </a:rPr>
              <a:t>Hierarchical cosine trees excel at isolating fine-grained sub-taxonomies (synonyms/antonyms).</a:t>
            </a:r>
          </a:p>
          <a:p>
            <a:pPr>
              <a:spcBef>
                <a:spcPts val="1200"/>
              </a:spcBef>
              <a:defRPr sz="1050">
                <a:latin typeface="Segoe UI"/>
              </a:defRPr>
            </a:pPr>
            <a:r>
              <a:rPr b="1">
                <a:solidFill>
                  <a:srgbClr val="D4AF37"/>
                </a:solidFill>
              </a:rPr>
              <a:t>High Speed: </a:t>
            </a:r>
            <a:r>
              <a:rPr>
                <a:solidFill>
                  <a:srgbClr val="222222"/>
                </a:solidFill>
              </a:rPr>
              <a:t>Eliminating Spectral enables complete 4-algorithm multi-k benchmarking in ~10 minutes on CPU.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D4AF37"/>
                </a:solidFill>
                <a:latin typeface="Segoe UI"/>
              </a:defRPr>
            </a:pPr>
            <a:r>
              <a:t>SYNTHESIS &amp; 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222222"/>
                </a:solidFill>
                <a:latin typeface="Georgia"/>
              </a:defRPr>
            </a:pPr>
            <a:r>
              <a:t>Tripartite Synthesis &amp; Cognitive Science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07008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696969"/>
                </a:solidFill>
                <a:latin typeface="Segoe UI"/>
              </a:defRPr>
            </a:pPr>
            <a:r>
              <a:t>Comparative architecture matrix across IndicFastText, Word2Vec, and RoBERTa on Hindi semantics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10545775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783080"/>
            <a:ext cx="10545775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7280" y="1783080"/>
            <a:ext cx="9997135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005840" y="1920240"/>
          <a:ext cx="10180015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645920"/>
                <a:gridCol w="1645920"/>
                <a:gridCol w="1645920"/>
                <a:gridCol w="1645920"/>
                <a:gridCol w="1584655"/>
              </a:tblGrid>
              <a:tr h="327660"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Dimension / Paradigm</a:t>
                      </a:r>
                    </a:p>
                  </a:txBody>
                  <a:tcPr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IndicFastText</a:t>
                      </a:r>
                    </a:p>
                  </a:txBody>
                  <a:tcPr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Word2Vec-Hindi</a:t>
                      </a:r>
                    </a:p>
                  </a:txBody>
                  <a:tcPr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RoBERTa-Hindi</a:t>
                      </a:r>
                    </a:p>
                  </a:txBody>
                  <a:tcPr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Best Algorithm</a:t>
                      </a:r>
                    </a:p>
                  </a:txBody>
                  <a:tcPr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Cognitive Role</a:t>
                      </a:r>
                    </a:p>
                  </a:txBody>
                  <a:tcPr>
                    <a:solidFill>
                      <a:srgbClr val="D4AF37"/>
                    </a:solidFill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Representation Type</a:t>
                      </a:r>
                    </a:p>
                  </a:txBody>
                  <a:tcPr>
                    <a:solidFill>
                      <a:srgbClr val="FAF9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Subword n-gram</a:t>
                      </a:r>
                    </a:p>
                  </a:txBody>
                  <a:tcPr>
                    <a:solidFill>
                      <a:srgbClr val="FAF9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Word Skip-gram</a:t>
                      </a:r>
                    </a:p>
                  </a:txBody>
                  <a:tcPr>
                    <a:solidFill>
                      <a:srgbClr val="FAF9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Contextual Attention</a:t>
                      </a:r>
                    </a:p>
                  </a:txBody>
                  <a:tcPr>
                    <a:solidFill>
                      <a:srgbClr val="FAF9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D4AF37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AF9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Morphological vs. Contextual</a:t>
                      </a:r>
                    </a:p>
                  </a:txBody>
                  <a:tcPr>
                    <a:solidFill>
                      <a:srgbClr val="FAF9F6"/>
                    </a:solidFill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Vector Dimensionality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300 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300 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768 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D4AF37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Hierarchical Capacity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Morphological Bleed</a:t>
                      </a:r>
                    </a:p>
                  </a:txBody>
                  <a:tcPr>
                    <a:solidFill>
                      <a:srgbClr val="FAF9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High (Affix bias)</a:t>
                      </a:r>
                    </a:p>
                  </a:txBody>
                  <a:tcPr>
                    <a:solidFill>
                      <a:srgbClr val="FAF9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None (Word tokens)</a:t>
                      </a:r>
                    </a:p>
                  </a:txBody>
                  <a:tcPr>
                    <a:solidFill>
                      <a:srgbClr val="FAF9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Context-filtered</a:t>
                      </a:r>
                    </a:p>
                  </a:txBody>
                  <a:tcPr>
                    <a:solidFill>
                      <a:srgbClr val="FAF9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D4AF37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AF9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Inflectional robustness</a:t>
                      </a:r>
                    </a:p>
                  </a:txBody>
                  <a:tcPr>
                    <a:solidFill>
                      <a:srgbClr val="FAF9F6"/>
                    </a:solidFill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Cluster Tightness (WCSS)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7,065.12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14,706.77 (20k pts)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3,038.46 (10k pts)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D4AF37"/>
                          </a:solidFill>
                          <a:latin typeface="Segoe UI"/>
                        </a:defRPr>
                      </a:pPr>
                      <a:r>
                        <a:t>Voronoi (K-Means)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Compact mental categories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Separation (Davies-Bouldin)</a:t>
                      </a:r>
                    </a:p>
                  </a:txBody>
                  <a:tcPr>
                    <a:solidFill>
                      <a:srgbClr val="FAF9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3.50 - 4.28</a:t>
                      </a:r>
                    </a:p>
                  </a:txBody>
                  <a:tcPr>
                    <a:solidFill>
                      <a:srgbClr val="FAF9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2.85 - 5.84</a:t>
                      </a:r>
                    </a:p>
                  </a:txBody>
                  <a:tcPr>
                    <a:solidFill>
                      <a:srgbClr val="FAF9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2.38 - 3.00</a:t>
                      </a:r>
                    </a:p>
                  </a:txBody>
                  <a:tcPr>
                    <a:solidFill>
                      <a:srgbClr val="FAF9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D4AF37"/>
                          </a:solidFill>
                          <a:latin typeface="Segoe UI"/>
                        </a:defRPr>
                      </a:pPr>
                      <a:r>
                        <a:t>Agglomerative / MiniBatch</a:t>
                      </a:r>
                    </a:p>
                  </a:txBody>
                  <a:tcPr>
                    <a:solidFill>
                      <a:srgbClr val="FAF9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Clean hierarchical taxonomy</a:t>
                      </a:r>
                    </a:p>
                  </a:txBody>
                  <a:tcPr>
                    <a:solidFill>
                      <a:srgbClr val="FAF9F6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822960" y="4297680"/>
            <a:ext cx="10545775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97280" y="4297680"/>
            <a:ext cx="9997135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434840"/>
            <a:ext cx="999713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22222"/>
                </a:solidFill>
                <a:latin typeface="Georgia"/>
              </a:defRPr>
            </a:pPr>
            <a:r>
              <a:t>Cognitive Science Takeaways</a:t>
            </a:r>
          </a:p>
          <a:p>
            <a:pPr>
              <a:spcBef>
                <a:spcPts val="500"/>
              </a:spcBef>
              <a:defRPr sz="1050">
                <a:latin typeface="Segoe UI"/>
              </a:defRPr>
            </a:pPr>
            <a:r>
              <a:rPr b="1">
                <a:solidFill>
                  <a:srgbClr val="D4AF37"/>
                </a:solidFill>
              </a:rPr>
              <a:t>Mental Lexicon Architecture: </a:t>
            </a:r>
            <a:r>
              <a:rPr>
                <a:solidFill>
                  <a:srgbClr val="222222"/>
                </a:solidFill>
              </a:rPr>
              <a:t>Human semantic memory is multi-tiered: static models like Word2Vec reflect baseline associative semantic networks, while RoBERTa mirrors active contextual disambiguation in real-time language processing.</a:t>
            </a:r>
          </a:p>
          <a:p>
            <a:pPr>
              <a:spcBef>
                <a:spcPts val="500"/>
              </a:spcBef>
              <a:defRPr sz="1050">
                <a:latin typeface="Segoe UI"/>
              </a:defRPr>
            </a:pPr>
            <a:r>
              <a:rPr b="1">
                <a:solidFill>
                  <a:srgbClr val="D4AF37"/>
                </a:solidFill>
              </a:rPr>
              <a:t>The Inflectional Hazard in Hindi: </a:t>
            </a:r>
            <a:r>
              <a:rPr>
                <a:solidFill>
                  <a:srgbClr val="222222"/>
                </a:solidFill>
              </a:rPr>
              <a:t>Subword n-gram models (FastText) suffer from morphological confounding, whereas Word2Vec and RoBERTa isolate conceptual meaning independent of grammatical inflections.</a:t>
            </a:r>
          </a:p>
          <a:p>
            <a:pPr>
              <a:spcBef>
                <a:spcPts val="500"/>
              </a:spcBef>
              <a:defRPr sz="1050">
                <a:latin typeface="Segoe UI"/>
              </a:defRPr>
            </a:pPr>
            <a:r>
              <a:rPr b="1">
                <a:solidFill>
                  <a:srgbClr val="D4AF37"/>
                </a:solidFill>
              </a:rPr>
              <a:t>Optimal Algorithmic Recommendation: </a:t>
            </a:r>
            <a:r>
              <a:rPr>
                <a:solidFill>
                  <a:srgbClr val="222222"/>
                </a:solidFill>
              </a:rPr>
              <a:t>For downstream cognitive tasks (e.g. semantic priming, neural decoding), Voronoi K-Means and Agglomerative Cosine at k ≈ 150-200 provide the most robust balance of intra-cluster coherence and inter-cluster separation.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